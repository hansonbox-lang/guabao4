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0" d="100"/>
          <a:sy n="400" d="100"/>
        </p:scale>
        <p:origin x="288" y="-76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jp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3.png"/><Relationship Id="rId10" Type="http://schemas.openxmlformats.org/officeDocument/2006/relationships/image" Target="../media/image44.jpg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33.png"/><Relationship Id="rId10" Type="http://schemas.openxmlformats.org/officeDocument/2006/relationships/image" Target="../media/image49.jp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33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3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93.png"/><Relationship Id="rId4" Type="http://schemas.openxmlformats.org/officeDocument/2006/relationships/image" Target="../media/image33.png"/><Relationship Id="rId9" Type="http://schemas.openxmlformats.org/officeDocument/2006/relationships/image" Target="../media/image96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33.png"/><Relationship Id="rId10" Type="http://schemas.openxmlformats.org/officeDocument/2006/relationships/image" Target="../media/image102.jpg"/><Relationship Id="rId4" Type="http://schemas.openxmlformats.org/officeDocument/2006/relationships/image" Target="../media/image98.png"/><Relationship Id="rId9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111.png"/><Relationship Id="rId5" Type="http://schemas.openxmlformats.org/officeDocument/2006/relationships/image" Target="../media/image108.png"/><Relationship Id="rId10" Type="http://schemas.openxmlformats.org/officeDocument/2006/relationships/image" Target="../media/image110.png"/><Relationship Id="rId4" Type="http://schemas.openxmlformats.org/officeDocument/2006/relationships/image" Target="../media/image65.png"/><Relationship Id="rId9" Type="http://schemas.openxmlformats.org/officeDocument/2006/relationships/image" Target="../media/image1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98.png"/><Relationship Id="rId7" Type="http://schemas.openxmlformats.org/officeDocument/2006/relationships/image" Target="../media/image1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31.png"/><Relationship Id="rId4" Type="http://schemas.openxmlformats.org/officeDocument/2006/relationships/image" Target="../media/image33.png"/><Relationship Id="rId9" Type="http://schemas.openxmlformats.org/officeDocument/2006/relationships/image" Target="../media/image134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98.png"/><Relationship Id="rId7" Type="http://schemas.openxmlformats.org/officeDocument/2006/relationships/image" Target="../media/image1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35.png"/><Relationship Id="rId4" Type="http://schemas.openxmlformats.org/officeDocument/2006/relationships/image" Target="../media/image33.png"/><Relationship Id="rId9" Type="http://schemas.openxmlformats.org/officeDocument/2006/relationships/image" Target="../media/image138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98.png"/><Relationship Id="rId7" Type="http://schemas.openxmlformats.org/officeDocument/2006/relationships/image" Target="../media/image1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39.png"/><Relationship Id="rId4" Type="http://schemas.openxmlformats.org/officeDocument/2006/relationships/image" Target="../media/image33.png"/><Relationship Id="rId9" Type="http://schemas.openxmlformats.org/officeDocument/2006/relationships/image" Target="../media/image14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854" y="4139505"/>
            <a:ext cx="3468141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083" y="238125"/>
            <a:ext cx="905916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280344"/>
            <a:ext cx="121920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31898" y="2756594"/>
            <a:ext cx="8128203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0F172A"/>
                </a:solidFill>
                <a:latin typeface="Noto Sans TC"/>
              </a:rPr>
              <a:t>好家割包總店 POS 點餐與會員管理系統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6405" y="3518594"/>
            <a:ext cx="4459188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Noto Sans TC"/>
              </a:rPr>
              <a:t>全端技術整合、復刻 Swing 美學與智慧會員經營</a:t>
            </a:r>
          </a:p>
        </p:txBody>
      </p:sp>
      <p:grpSp>
        <p:nvGrpSpPr>
          <p:cNvPr id="10" name="群組 9"/>
          <p:cNvGrpSpPr/>
          <p:nvPr/>
        </p:nvGrpSpPr>
        <p:grpSpPr>
          <a:xfrm>
            <a:off x="3649785" y="4811190"/>
            <a:ext cx="4892278" cy="1517073"/>
            <a:chOff x="3649785" y="4811190"/>
            <a:chExt cx="4892278" cy="1517073"/>
          </a:xfrm>
        </p:grpSpPr>
        <p:pic>
          <p:nvPicPr>
            <p:cNvPr id="8" name="Picture 2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49785" y="4811190"/>
              <a:ext cx="4892278" cy="1517073"/>
            </a:xfrm>
            <a:prstGeom prst="rect">
              <a:avLst/>
            </a:prstGeom>
          </p:spPr>
        </p:pic>
        <p:sp>
          <p:nvSpPr>
            <p:cNvPr id="9" name="文字方塊 8"/>
            <p:cNvSpPr txBox="1"/>
            <p:nvPr/>
          </p:nvSpPr>
          <p:spPr>
            <a:xfrm>
              <a:off x="3935924" y="5108061"/>
              <a:ext cx="4320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指導老師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: </a:t>
              </a:r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張庭禎老師、江聖榮老師</a:t>
              </a:r>
            </a:p>
            <a:p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組長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: </a:t>
              </a:r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李韓生</a:t>
              </a:r>
            </a:p>
            <a:p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組員</a:t>
              </a:r>
              <a:r>
                <a:rPr lang="en-US" altLang="zh-TW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: </a:t>
              </a:r>
              <a:r>
                <a:rPr lang="zh-TW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郭仁德、</a:t>
              </a:r>
              <a:r>
                <a:rPr lang="zh-TW" altLang="en-US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</a:rPr>
                <a:t>胡永成</a:t>
              </a:r>
              <a:endPara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07592"/>
            <a:ext cx="5405437" cy="26857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07592"/>
            <a:ext cx="5405437" cy="26857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5033" y="238125"/>
            <a:ext cx="1305966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2693342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上半場：業務與架構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4903" y="2693342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下半場：技術實作與展望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31442"/>
            <a:ext cx="16311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7275" y="3112442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01. 專案緣起與情感連結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(P.3 - P.4)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45147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02. 傳統夜市門市痛點與目標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(P.5 - P.6)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79050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03. 核心業務功能解析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(P.7 - P.10)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12953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04. 全端技術選型與系統架構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(P.11 - P.13)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468564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05. 學習歷程與開發時程推進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(P.14 - P.16)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2731442"/>
            <a:ext cx="16311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96087" y="3112442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06. 程式亮點與 UI/UX 視覺美化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(P.17 - P.19)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087" y="345147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07. 資料庫設計與 ACID 事務控制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(P.20 - P.22)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6087" y="379050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08. API 路由規範與前後端串接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(P.23 - P.24)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6087" y="412953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09. 門市日常操作流程指南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(P.25 - P.27)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087" y="4468564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10. 門市測試資料與未來展望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 (P.28 - P.30)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09339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43242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77145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11048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449514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6537" y="309339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537" y="343242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6537" y="377145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6537" y="411048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6537" y="4449514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簡報大綱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22834"/>
            <a:ext cx="5405437" cy="1660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574256"/>
            <a:ext cx="5405437" cy="14171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722834"/>
            <a:ext cx="5405437" cy="405511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1894284"/>
            <a:ext cx="5315664" cy="247650"/>
          </a:xfrm>
          <a:prstGeom prst="rect">
            <a:avLst/>
          </a:prstGeom>
          <a:noFill/>
        </p:spPr>
        <p:txBody>
          <a:bodyPr wrap="square" lIns="1387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D97706"/>
                </a:solidFill>
                <a:latin typeface="Noto Sans TC"/>
              </a:rPr>
              <a:t>夜市老店的傳統美食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237184"/>
            <a:ext cx="50625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293B"/>
                </a:solidFill>
                <a:latin typeface="Noto Sans TC"/>
              </a:rPr>
              <a:t>阿姨與姨丈在夜市經營「好家割包總店」，靠著扎實手藝與好口碑深受顧客喜愛。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724745"/>
            <a:ext cx="50625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293B"/>
                </a:solidFill>
                <a:latin typeface="Noto Sans TC"/>
              </a:rPr>
              <a:t>白茫茫的熱氣翻騰，肥瘦相間的焢肉與酸菜香氣，是無數老饕尋味而來的記憶。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745706"/>
            <a:ext cx="5315664" cy="247650"/>
          </a:xfrm>
          <a:prstGeom prst="rect">
            <a:avLst/>
          </a:prstGeom>
          <a:noFill/>
        </p:spPr>
        <p:txBody>
          <a:bodyPr wrap="square" lIns="59382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2563EB"/>
                </a:solidFill>
                <a:latin typeface="Noto Sans TC"/>
              </a:rPr>
              <a:t>半輩子的辛勞與付出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088606"/>
            <a:ext cx="50625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293B"/>
                </a:solidFill>
                <a:latin typeface="Noto Sans TC"/>
              </a:rPr>
              <a:t>姨丈在煙熱的蒸汽中埋頭包割包，阿姨則在紛亂的聲音中喊單、找零、招呼客人。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4576167"/>
            <a:ext cx="506253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293B"/>
                </a:solidFill>
                <a:latin typeface="Noto Sans TC"/>
              </a:rPr>
              <a:t>數十年如一日的堅持，養育了家庭，也傳承了古早味。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1741884"/>
            <a:ext cx="5367337" cy="401701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1932384"/>
            <a:ext cx="138707" cy="17829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783806"/>
            <a:ext cx="59382" cy="1782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01. 專案緣起：夜市蒸籠旁的煙火氣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72357"/>
            <a:ext cx="5405437" cy="2156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72357"/>
            <a:ext cx="5405437" cy="21562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2958107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E07A5F"/>
                </a:solidFill>
                <a:latin typeface="Noto Sans TC"/>
              </a:rPr>
              <a:t>體貼長輩的開發初衷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77207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每當排隊人潮滾滾而來時，純手工點餐與記帳常讓阿姨手忙腳亂、雙眼疲憊。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60018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適逢進行專題實作，決定放棄華麗商業題材，以自己所學技術回饋長輩，解決最真實的門市負擔。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4903" y="2958107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帶著感念的轉型作品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6537" y="3377207"/>
            <a:ext cx="475773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為傳統老店注入現代化全端 POS 系統。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6537" y="3716238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讓傳統小吃在保有滿滿溫度的同時，走向制度化、數位化營運，提升整體作業順暢度。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96207"/>
            <a:ext cx="16311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2996207"/>
            <a:ext cx="16311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01. 專案緣起：科技回饋古早味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58070"/>
            <a:ext cx="5405437" cy="2184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58070"/>
            <a:ext cx="5405437" cy="21847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2972395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Noto Sans TC"/>
              </a:rPr>
              <a:t>營運效率瓶頸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4903" y="2972395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D97706"/>
                </a:solidFill>
                <a:latin typeface="Noto Sans TC"/>
              </a:rPr>
              <a:t>顧客關係維護困難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010495"/>
            <a:ext cx="16311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7275" y="3391495"/>
            <a:ext cx="4548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口頭喊單易漏單：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尖峰時段完全依賴口頭喊單與紙本記憶，環境嘈雜極易漏單或送錯餐。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74306"/>
            <a:ext cx="4548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找零耗時塞車：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手工計算與找零耗時，增加顧客排隊等待時間，降低翻桌結帳率。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3010495"/>
            <a:ext cx="16311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96087" y="3391495"/>
            <a:ext cx="4548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缺乏會員機制：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無法有效記錄老顧客消費習慣、消費金額與回購頻率。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6087" y="3974306"/>
            <a:ext cx="4548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促銷效益難追蹤：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贈餐多憑口頭承諾或紙本集點卡，容易遺失且缺乏系統化效益分析。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37244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95525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6537" y="337244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6537" y="395525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02. 傳統夜市門市營運痛點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50331"/>
            <a:ext cx="4892278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153" y="3083718"/>
            <a:ext cx="5870971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050381"/>
            <a:ext cx="4092178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 dirty="0">
                <a:solidFill>
                  <a:srgbClr val="D97706"/>
                </a:solidFill>
                <a:latin typeface="Poppins"/>
              </a:rPr>
              <a:t>+50%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26681"/>
            <a:ext cx="409217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78350F"/>
                </a:solidFill>
                <a:latin typeface="Noto Sans TC"/>
              </a:rPr>
              <a:t>門市結帳效率提升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279106"/>
            <a:ext cx="409217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78350F"/>
                </a:solidFill>
                <a:latin typeface="Noto Sans TC"/>
              </a:rPr>
              <a:t>大幅降低人為出錯率，拉近與老客群距離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603" y="3255168"/>
            <a:ext cx="5804475" cy="247650"/>
          </a:xfrm>
          <a:prstGeom prst="rect">
            <a:avLst/>
          </a:prstGeom>
          <a:noFill/>
        </p:spPr>
        <p:txBody>
          <a:bodyPr wrap="square" lIns="1387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2563EB"/>
                </a:solidFill>
                <a:latin typeface="Noto Sans TC"/>
              </a:rPr>
              <a:t>專案三大核心目標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603" y="3293268"/>
            <a:ext cx="138707" cy="178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11453" y="3636168"/>
            <a:ext cx="57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Noto Sans T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8603" y="3645693"/>
            <a:ext cx="5528071" cy="2000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Noto Sans TC"/>
              </a:rPr>
              <a:t>高效點餐：</a:t>
            </a:r>
            <a:r>
              <a:rPr sz="1200" b="0" i="0" u="none">
                <a:solidFill>
                  <a:srgbClr val="1E293B"/>
                </a:solidFill>
                <a:latin typeface="Noto Sans TC"/>
              </a:rPr>
              <a:t>極速 + / - 按鈕介面，大字體觸控，大幅縮短點餐結帳時間。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1453" y="3836193"/>
            <a:ext cx="57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Noto Sans T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603" y="3845718"/>
            <a:ext cx="5528071" cy="2000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Noto Sans TC"/>
              </a:rPr>
              <a:t>智慧經營：</a:t>
            </a:r>
            <a:r>
              <a:rPr sz="1200" b="0" i="0" u="none">
                <a:solidFill>
                  <a:srgbClr val="1E293B"/>
                </a:solidFill>
                <a:latin typeface="Noto Sans TC"/>
              </a:rPr>
              <a:t>消費滿百自動積點，滿 10 點自動折抵並免費贈送「綜合割包」。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453" y="4036218"/>
            <a:ext cx="57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Noto Sans T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8603" y="4045743"/>
            <a:ext cx="5528071" cy="2000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Noto Sans TC"/>
              </a:rPr>
              <a:t>優化 UI/UX：</a:t>
            </a:r>
            <a:r>
              <a:rPr sz="1200" b="0" i="0" u="none">
                <a:solidFill>
                  <a:srgbClr val="1E293B"/>
                </a:solidFill>
                <a:latin typeface="Noto Sans TC"/>
              </a:rPr>
              <a:t>馬卡龍柔和配色與 Swing 復刻視覺，減輕長輩看螢幕的疲勞感。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02. 專案目標與預期效益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17448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858666"/>
            <a:ext cx="5405437" cy="1272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Noto Sans TC"/>
              </a:rPr>
              <a:t>精細身分劃分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4030116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動態選單與登入狀態驗證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4875" y="2342405"/>
            <a:ext cx="4852987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最高權限 (管理者)：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開放全系統功能（前台點餐 + 後台員工資料/權限維護）。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929086"/>
            <a:ext cx="4852987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一般權限 (門市員工)：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僅開放前台點餐與會員服務，防範誤觸後台敏感設定。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058691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75" y="425871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未登入時呈現「[員工未登入]」狀態，隱藏或停用功能按鈕。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609207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登入成功後即時帶入員工身分與權限標籤，啟用後台管理按鈕。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32335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91003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423966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59015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03. 核心業務功能：角色權限管理 (RBAC)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圖片 21"/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474" y="1961405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1272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386286"/>
            <a:ext cx="5405437" cy="1272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直覺點購體驗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557736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97706"/>
                </a:solidFill>
                <a:latin typeface="Noto Sans TC"/>
              </a:rPr>
              <a:t>實時動態試算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4875" y="2342405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品項圖像化：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割包類（綜合、赤肉、焢肉）與湯品類一目了然。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69289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快捷加減：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支援一鍵增減數量，可即時清空購物車或單品微調。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586311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75" y="378633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購物車動態顯示各品項小計、商品總件數與應付總金額。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13682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結帳前自動試算本次消費預計累積之會員點數。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32335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67384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376728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11777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03. 核心業務功能：前台點餐與購物車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圖片 21"/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474" y="1961130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1272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386286"/>
            <a:ext cx="5405437" cy="16229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Noto Sans TC"/>
              </a:rPr>
              <a:t>自動消費積點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557736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07A5F"/>
                </a:solidFill>
                <a:latin typeface="Noto Sans TC"/>
              </a:rPr>
              <a:t>智控自動贈餐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4875" y="2342405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結帳帶入會員卡號（如 A01），自動顯示現有積點與歷史消費金額。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69289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每消費滿 NT$ 100 元，系統自動累計 1 點。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586311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75" y="378633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結帳時系統自動判定會員剩餘點數。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13682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每滿 10 點自動扣抵，並於訂單中自動免費新增「綜合割包 1 個」。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487316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避免人工計算錯誤，讓老顧客感受有感專屬優惠。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32335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267384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376728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11777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4468266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03. 核心業務功能：智控會員機制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圖片 23"/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37" y="1959691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24732"/>
            <a:ext cx="5405437" cy="22514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24732"/>
            <a:ext cx="5405437" cy="22514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4266" y="238125"/>
            <a:ext cx="1246733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2910482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獨立跳出式列印視窗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4903" y="2910482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Noto Sans TC"/>
              </a:rPr>
              <a:t>秒級實時系統時鐘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48582"/>
            <a:ext cx="16311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7275" y="3329582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點擊「列印明細 / 列印 PDF」可開啟純文字標準單據視窗。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68613"/>
            <a:ext cx="4548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支援門市熱感應紙出單與 PDF 數位存檔，利於廚房出餐與顧客留存。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251424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單據清楚標註品項、數量、會員卡號、獲贈品項及結帳員工 ID。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2948582"/>
            <a:ext cx="16311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6087" y="3329582"/>
            <a:ext cx="4548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頂端配置與 Server 時間同步之秒級時鐘（如 2026-09-04 15:23:13）。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6087" y="3912393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精確記錄每筆交易時間戳記（Created Timestamp）。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6087" y="4251424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提供日後營業對帳、離峰/尖峰時段銷售分析數據基礎。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31053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64956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232374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6537" y="331053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6537" y="3893343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6537" y="4232374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03. 核心業務功能：出單列印與系統時鐘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41996"/>
            <a:ext cx="3562350" cy="22169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641996"/>
            <a:ext cx="3562350" cy="22169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775" y="2641996"/>
            <a:ext cx="3562350" cy="22169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703" y="238125"/>
            <a:ext cx="1232296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08696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556396"/>
            <a:ext cx="135845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React.js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889771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採用現代化 SPA 框架，極速建置與熱重載 (HMR) 開發環境，確保介面運作順暢無卡頓。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2908696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425" y="3556396"/>
            <a:ext cx="176678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Component 模組化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3425" y="3927871"/>
            <a:ext cx="3105150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切分 Header, Menu, Cart, MemberModal, EmployeeTable 等獨立組件，提升程式可維護性。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2908696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4375" y="3556396"/>
            <a:ext cx="197821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Modern CSS &amp; 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375" y="3889771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Flexbox/Grid 打造 Swing 復刻視覺；封裝 Fetch API 實現與後端 RESTful API 溝通。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25" y="3042046"/>
            <a:ext cx="177849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075" y="3042046"/>
            <a:ext cx="177849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3025" y="3042046"/>
            <a:ext cx="177849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04. 技術架構：前端技術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71775"/>
            <a:ext cx="3562350" cy="1957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771775"/>
            <a:ext cx="3562350" cy="1957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775" y="2771775"/>
            <a:ext cx="3562350" cy="19573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1410" y="238125"/>
            <a:ext cx="1239589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038475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686175"/>
            <a:ext cx="226231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Java 21 + Spring Boot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019550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採用最新 LTS 版本的高效能、輕量化微服務基礎，提供穩健的商務邏輯運算能力。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303847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425" y="3686175"/>
            <a:ext cx="155238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Spring Data JPA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3425" y="4019550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搭配 Hibernate ORM 框架，簡化資料庫 CRUD 操作與客製化 JPQL/SQL 查詢寫入。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3038475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4375" y="3686175"/>
            <a:ext cx="167880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Maven &amp;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375" y="4019550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Maven 進行套件依賴管理；Jackson JSON 處理前後端 RESTful 資料交換序列化。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25" y="3171825"/>
            <a:ext cx="177849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075" y="3171825"/>
            <a:ext cx="177849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3025" y="3171825"/>
            <a:ext cx="177849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04. 技術架構：後端技術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41996"/>
            <a:ext cx="3562350" cy="22169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641996"/>
            <a:ext cx="3562350" cy="22169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641996"/>
            <a:ext cx="3562350" cy="22169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7616" y="238125"/>
            <a:ext cx="1113383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908696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556396"/>
            <a:ext cx="193383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用戶層 (Client Layer)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927871"/>
            <a:ext cx="15049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 dirty="0">
                <a:solidFill>
                  <a:srgbClr val="475569"/>
                </a:solidFill>
                <a:latin typeface="Noto Sans TC"/>
              </a:rPr>
              <a:t>• </a:t>
            </a:r>
            <a:r>
              <a:rPr sz="1125" b="0" i="0" u="none" dirty="0" err="1">
                <a:solidFill>
                  <a:srgbClr val="475569"/>
                </a:solidFill>
                <a:latin typeface="Noto Sans TC"/>
              </a:rPr>
              <a:t>門市平板</a:t>
            </a:r>
            <a:r>
              <a:rPr sz="1125" b="0" i="0" u="none" dirty="0">
                <a:solidFill>
                  <a:srgbClr val="475569"/>
                </a:solidFill>
                <a:latin typeface="Noto Sans TC"/>
              </a:rPr>
              <a:t>/</a:t>
            </a:r>
            <a:r>
              <a:rPr sz="1125" b="0" i="0" u="none" dirty="0" err="1">
                <a:solidFill>
                  <a:srgbClr val="475569"/>
                </a:solidFill>
                <a:latin typeface="Noto Sans TC"/>
              </a:rPr>
              <a:t>桌機瀏覽器</a:t>
            </a:r>
            <a:endParaRPr sz="1125" b="0" i="0" u="none" dirty="0">
              <a:solidFill>
                <a:srgbClr val="475569"/>
              </a:solidFill>
              <a:latin typeface="Noto Sans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2475" y="4149328"/>
            <a:ext cx="1524148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 dirty="0">
                <a:solidFill>
                  <a:srgbClr val="475569"/>
                </a:solidFill>
                <a:latin typeface="Noto Sans TC"/>
              </a:rPr>
              <a:t>• React SPA </a:t>
            </a:r>
            <a:r>
              <a:rPr sz="1125" b="0" i="0" u="none" dirty="0" err="1">
                <a:solidFill>
                  <a:srgbClr val="475569"/>
                </a:solidFill>
                <a:latin typeface="Noto Sans TC"/>
              </a:rPr>
              <a:t>視窗化介面</a:t>
            </a:r>
            <a:endParaRPr sz="1125" b="0" i="0" u="none" dirty="0">
              <a:solidFill>
                <a:srgbClr val="475569"/>
              </a:solidFill>
              <a:latin typeface="Noto Sans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2475" y="4370784"/>
            <a:ext cx="1606153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 dirty="0">
                <a:solidFill>
                  <a:srgbClr val="475569"/>
                </a:solidFill>
                <a:latin typeface="Noto Sans TC"/>
              </a:rPr>
              <a:t>• State </a:t>
            </a:r>
            <a:r>
              <a:rPr sz="1125" b="0" i="0" u="none" dirty="0" err="1">
                <a:solidFill>
                  <a:srgbClr val="475569"/>
                </a:solidFill>
                <a:latin typeface="Noto Sans TC"/>
              </a:rPr>
              <a:t>購物車與即時計算</a:t>
            </a:r>
            <a:endParaRPr sz="1125" b="0" i="0" u="none" dirty="0">
              <a:solidFill>
                <a:srgbClr val="475569"/>
              </a:solidFill>
              <a:latin typeface="Noto Sans TC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5" y="290869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43425" y="3556396"/>
            <a:ext cx="209010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服務層 (Service Layer)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3425" y="3927871"/>
            <a:ext cx="1757511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• Spring Boot API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4149328"/>
            <a:ext cx="1606004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• Service 商業邏輯處理層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4370784"/>
            <a:ext cx="1698426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• @Transactional 事務控制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4375" y="2908696"/>
            <a:ext cx="495300" cy="495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34375" y="3556396"/>
            <a:ext cx="181178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資料層 (Data Layer)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927871"/>
            <a:ext cx="169604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• MySQL 8.0 關聯式資料庫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149328"/>
            <a:ext cx="1455539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• employees,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4375" y="4370784"/>
            <a:ext cx="140017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• orders, order_details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125" y="3042046"/>
            <a:ext cx="177849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2075" y="3042046"/>
            <a:ext cx="177849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3025" y="3042046"/>
            <a:ext cx="177849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04. 技術架構：前後端分離架構圖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951"/>
            <a:ext cx="5405437" cy="1028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43101"/>
            <a:ext cx="5405437" cy="16229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942951"/>
            <a:ext cx="5405437" cy="361488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7616" y="238125"/>
            <a:ext cx="1113383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4401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扎實培訓歷程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343001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參加勞動部委託之「Java全端AI程式開發設計班」。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571601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完成為期 4 個月、累積 480 小時的高強度專業系統化訓練。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314551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Noto Sans TC"/>
              </a:rPr>
              <a:t>技術領域全面覆蓋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1962001"/>
            <a:ext cx="5367337" cy="357678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142976"/>
            <a:ext cx="13349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343126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75" y="3543151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Java 物件導向程式設計 (OOP)、Design Patterns。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3893641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Spring Boot 後端架構、JDBC / Spring Data JPA 整合。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244131"/>
            <a:ext cx="4852987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前端 HTML5 / CSS3 / JavaScript (ES6+) 與 React 框架。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3524101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3874591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225081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05. 學習歷程：專業培訓與技術轉型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416" y="238125"/>
            <a:ext cx="1335583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88493"/>
            <a:ext cx="5014912" cy="1123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212" y="3188493"/>
            <a:ext cx="5014912" cy="11239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81087" y="3731418"/>
            <a:ext cx="10029825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8529" y="3398043"/>
            <a:ext cx="482560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Noto Sans TC"/>
              </a:rPr>
              <a:t>階段一：需求訪談與 Schema 規劃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702843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深入夜市門市實地觀察作業流程與喊單模式。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902868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定義系統功能規格，規劃 MySQL 關聯式 ER-Model。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7867" y="3398043"/>
            <a:ext cx="482560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Noto Sans TC"/>
              </a:rPr>
              <a:t>階段二：後端 API 開發與單元測試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2762" y="3702843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撰寫 Controller, Service, Repository 層級架構。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2762" y="3902868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使用 Postman 完成驗證，並導入 @Transactional 確保事務安全。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05. 開發過程：專案時程與階段實作 (一)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416" y="238125"/>
            <a:ext cx="1335583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88493"/>
            <a:ext cx="5014912" cy="1123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212" y="3188493"/>
            <a:ext cx="5014912" cy="11239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81087" y="3731418"/>
            <a:ext cx="10029825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8529" y="3398043"/>
            <a:ext cx="482560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Noto Sans TC"/>
              </a:rPr>
              <a:t>階段三：前端介面切版與組件化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702843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使用 React 打造 Swing 視窗風格與馬卡龍配色介面。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902868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實現購物車狀態管理 (State) 與實時價格試算。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7867" y="3398043"/>
            <a:ext cx="482560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Noto Sans TC"/>
              </a:rPr>
              <a:t>階段四：前後端整合與打包部署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2762" y="3702843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進行前後端跨域 (CORS) 溝通整合與邊界條件測試。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2762" y="3902868"/>
            <a:ext cx="4595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Noto Sans TC"/>
              </a:rPr>
              <a:t>最終打包為 Executable JAR 實現一鍵部署。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05. 開發過程：專案時程與階段實作 (二)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1028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142505"/>
            <a:ext cx="5405437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1708" y="238125"/>
            <a:ext cx="1239291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經典視窗視覺復刻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34240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將 Java Swing 的經典視窗外框、凸起/凹陷按鈕質感轉化為現代 CSS。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57100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呈現懷舊且極具專業 POS 機感的介面風格，帶有溫暖手作感。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31395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Noto Sans TC"/>
              </a:rPr>
              <a:t>區塊劃分明確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54255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「商品點購區」、「點餐明細框」與「會員中心框」界線分明。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377115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門市工作人員零學習成本即可上手操作。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342530"/>
            <a:ext cx="133498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06. 程式亮點：Swing 視窗風格復刻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圖片 17"/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474" y="1961130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371105"/>
            <a:ext cx="5405437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966" y="238125"/>
            <a:ext cx="980033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07A5F"/>
                </a:solidFill>
                <a:latin typeface="Noto Sans TC"/>
              </a:rPr>
              <a:t>柔和色調減緩疲勞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342405"/>
            <a:ext cx="50625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摒棄傳統 POS 沉悶黑色或高對比刺眼色彩，採用優雅馬卡龍色系（粉綠、粉紅、鵝黃、淡紫）。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79960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大幅降低門市員工長時間看螢幕引發的視覺疲勞。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54255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後台管理清爽佈局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77115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左側為單欄 Form 表單維護區，右側為現代化 Data Table 資料呈現區。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571130"/>
            <a:ext cx="133498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06. 程式亮點：馬卡龍配色與 UI 美化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圖片 16"/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474" y="1961405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77107"/>
            <a:ext cx="5405437" cy="23467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77107"/>
            <a:ext cx="5405437" cy="23467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7616" y="238125"/>
            <a:ext cx="1113383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2862857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複雜邏輯全自動化演算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4903" y="2862857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Noto Sans TC"/>
              </a:rPr>
              <a:t>門市營運零失誤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00957"/>
            <a:ext cx="16311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7275" y="3281957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第一步：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採算購物車商品總金額。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20988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第二步：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依「滿百贈1點」規則計算本次新增點數。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960018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第三步：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檢查會員現有剩餘點數。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299049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第四步：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若滿 10 點自動觸發扣點並寫入免費「綜合割包 1 個」。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2900957"/>
            <a:ext cx="16311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96087" y="3281957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徹底避免人工計算點數漏扣或忘記送餐的尷尬情境。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6087" y="3620988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提升老顧客滿意度與對門市品牌的信任感。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087" y="3960018"/>
            <a:ext cx="454818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後端一鍵寫入交易明細，前端無縫同步更新狀態。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26290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601938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940968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279999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6537" y="326290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6537" y="3601938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6537" y="3940968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0" i="0" u="none">
                <a:solidFill>
                  <a:srgbClr val="E07A5F"/>
                </a:solidFill>
                <a:latin typeface="Noto Sans T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06. 程式亮點：智慧結帳與扣點機制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52725"/>
            <a:ext cx="3562350" cy="1995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752725"/>
            <a:ext cx="3562350" cy="1995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775" y="2752725"/>
            <a:ext cx="3562350" cy="19954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733" y="238125"/>
            <a:ext cx="1039266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019425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667125"/>
            <a:ext cx="182288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employees (員工表)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038600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記錄員工編號、姓名、帳號、密碼與系統角色權限 (ROLE_ADMIN / ROLE_USER)。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301942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425" y="3667125"/>
            <a:ext cx="16783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members (會員表)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3425" y="4038600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記錄會員卡號、姓名、電話、累積消費金額與剩餘點數。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3019425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4375" y="3667125"/>
            <a:ext cx="15119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orders &amp;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375" y="4000500"/>
            <a:ext cx="31051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475569"/>
                </a:solidFill>
                <a:latin typeface="Noto Sans TC"/>
              </a:rPr>
              <a:t>orders 訂單主檔與 order_details 訂單明細，1 對多關聯儲存交易詳情。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25" y="3152775"/>
            <a:ext cx="177849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075" y="3152775"/>
            <a:ext cx="177849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3025" y="3152775"/>
            <a:ext cx="177849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07. 資料庫設計：ER-Model 架構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97943"/>
            <a:ext cx="1114425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412" y="238125"/>
            <a:ext cx="1417587" cy="2476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607468"/>
            <a:ext cx="11125200" cy="2286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607468"/>
          <a:ext cx="1112519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資料表 (Table)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主鍵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核心欄位 (Fields)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關聯性 (Relationship)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employees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id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name, username, password,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與 orders (1 :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members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id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card_no (Unique), name, phone, points, total_spent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與 orders (1 :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orders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id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order_no, member_id, employee_id, total_amount, created_at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FK -&gt; members, employees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order_details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id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order_id, item_name, quantity, subtotal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FK -&gt; orders (N :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400" y="3064668"/>
            <a:ext cx="170259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35993" y="3064668"/>
            <a:ext cx="128364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19636" y="3064668"/>
            <a:ext cx="544919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8829" y="3064668"/>
            <a:ext cx="268977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531393"/>
            <a:ext cx="17025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5993" y="3531393"/>
            <a:ext cx="1283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19636" y="3531393"/>
            <a:ext cx="5449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8829" y="3531393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983831"/>
            <a:ext cx="17025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5993" y="3983831"/>
            <a:ext cx="1283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19636" y="3983831"/>
            <a:ext cx="5449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8829" y="3983831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436268"/>
            <a:ext cx="17025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5993" y="4436268"/>
            <a:ext cx="1283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19636" y="4436268"/>
            <a:ext cx="5449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8829" y="4436268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07. 資料庫設計：核心 Data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58070"/>
            <a:ext cx="5405437" cy="2184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58070"/>
            <a:ext cx="5405437" cy="21847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3294" y="238125"/>
            <a:ext cx="116770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2972395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結帳交易的原子性 (Atomicity)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91495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一筆結帳動作同時包含：新增訂單主檔、新增訂單明細、更新會員剩餘點數與累積金額。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74306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使用 Spring @Transactional 註解，確保任何一環失敗即全面 Rollback。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4903" y="2972395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Noto Sans TC"/>
              </a:rPr>
              <a:t>資料一致性 (Consistency)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6537" y="3391495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避免因網路異常或例外導致「點數已扣除但訂單未成立」之重大資安與財務問題。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6537" y="3974306"/>
            <a:ext cx="475773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維持資料庫狀態嚴格一致。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010495"/>
            <a:ext cx="16311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3010495"/>
            <a:ext cx="16311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07. 資料庫設計：ACID 事務控制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57412"/>
            <a:ext cx="11144250" cy="3186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827" y="238125"/>
            <a:ext cx="1286172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166937"/>
            <a:ext cx="11125200" cy="31670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166937"/>
          <a:ext cx="11125198" cy="3167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9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1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84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HTTP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API 端點 (Endpoint)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功能說明 (Description)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權限需求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84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5803D"/>
                          </a:solidFill>
                          <a:latin typeface="Noto Sans TC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/api/auth/login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員工帳號密碼驗證登入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公開 (Public)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84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D4ED8"/>
                          </a:solidFill>
                          <a:latin typeface="Noto Sans TC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/api/employees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取得全體員工清單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管理者 (ADMIN)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84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5803D"/>
                          </a:solidFill>
                          <a:latin typeface="Noto Sans TC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/api/employees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新增門市員工帳號與權限設定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管理者 (ADMIN)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84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B45309"/>
                          </a:solidFill>
                          <a:latin typeface="Noto Sans TC"/>
                        </a:rPr>
                        <a:t>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/api/employees/{id}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更新員工資料或變更角色權限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管理者 (ADMIN)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84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B91C1C"/>
                          </a:solidFill>
                          <a:latin typeface="Noto Sans TC"/>
                        </a:rPr>
                        <a:t>DELETE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/api/employees/{id}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刪除離職員工帳號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管理者 (ADMIN)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400" y="2624137"/>
            <a:ext cx="22160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9450" y="2624137"/>
            <a:ext cx="292997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79430" y="2624137"/>
            <a:ext cx="368781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67242" y="2624137"/>
            <a:ext cx="229135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176587"/>
            <a:ext cx="2216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9450" y="3176587"/>
            <a:ext cx="2929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79430" y="3176587"/>
            <a:ext cx="3687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67242" y="3176587"/>
            <a:ext cx="2291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714750"/>
            <a:ext cx="2216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9450" y="3714750"/>
            <a:ext cx="2929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79430" y="3714750"/>
            <a:ext cx="3687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67242" y="3714750"/>
            <a:ext cx="2291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252912"/>
            <a:ext cx="2216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9450" y="4252912"/>
            <a:ext cx="2929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79430" y="4252912"/>
            <a:ext cx="3687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67242" y="4252912"/>
            <a:ext cx="2291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4791075"/>
            <a:ext cx="2216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9450" y="4791075"/>
            <a:ext cx="2929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79430" y="4791075"/>
            <a:ext cx="3687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67242" y="4791075"/>
            <a:ext cx="2291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767012"/>
            <a:ext cx="565844" cy="300037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305175"/>
            <a:ext cx="483244" cy="30003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3843337"/>
            <a:ext cx="565844" cy="30003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4381500"/>
            <a:ext cx="476250" cy="3000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4919662"/>
            <a:ext cx="717202" cy="3000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08. API 路由規範：認證與員工模組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26493"/>
            <a:ext cx="1114425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827" y="238125"/>
            <a:ext cx="1286172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436018"/>
            <a:ext cx="1112520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436018"/>
          <a:ext cx="11125198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1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HTTP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API 端點 (Endpoint)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功能說明 (Description)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權限需求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D4ED8"/>
                          </a:solidFill>
                          <a:latin typeface="Noto Sans TC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/api/members/card/{cardNo}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依會員卡號查詢會員點數與消費紀錄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已登入員工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5803D"/>
                          </a:solidFill>
                          <a:latin typeface="Noto Sans TC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/api/members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快速註冊新會員卡號與基本資料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已登入員工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5803D"/>
                          </a:solidFill>
                          <a:latin typeface="Noto Sans TC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/api/orders/checkout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提交購物車並執行智慧結帳與扣點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已登入員工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D4ED8"/>
                          </a:solidFill>
                          <a:latin typeface="Noto Sans TC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/api/orders/{id}/print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取得列印明細標準格式資料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已登入員工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400" y="2893218"/>
            <a:ext cx="206290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96306" y="2893218"/>
            <a:ext cx="331068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6988" y="2893218"/>
            <a:ext cx="410170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08691" y="2893218"/>
            <a:ext cx="164990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445668"/>
            <a:ext cx="2062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96306" y="3445668"/>
            <a:ext cx="331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6988" y="3445668"/>
            <a:ext cx="4101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08691" y="3445668"/>
            <a:ext cx="1649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983831"/>
            <a:ext cx="2062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96306" y="3983831"/>
            <a:ext cx="331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6988" y="3983831"/>
            <a:ext cx="4101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08691" y="3983831"/>
            <a:ext cx="1649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521993"/>
            <a:ext cx="2062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96306" y="4521993"/>
            <a:ext cx="331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06988" y="4521993"/>
            <a:ext cx="4101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008691" y="4521993"/>
            <a:ext cx="1649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3036093"/>
            <a:ext cx="483244" cy="300037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574256"/>
            <a:ext cx="565844" cy="30003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4112418"/>
            <a:ext cx="565844" cy="30003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4650581"/>
            <a:ext cx="483244" cy="3000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08. API 路由規範：會員與結帳模組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13905"/>
            <a:ext cx="5405437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416" y="238125"/>
            <a:ext cx="1335583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1. 選擇登入帳號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34240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開啟系統，輸入員工專屬帳號與密碼。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08535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Noto Sans TC"/>
              </a:rPr>
              <a:t>2. 驗證身分並解鎖功能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31395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登入成功跳出提示，頂端顯示「[管理者] 登入中」，解鎖點餐與後台權限。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113930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09. 門市操作指南：步驟一身分登入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圖片 15"/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474" y="1961130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864643"/>
            <a:ext cx="5405437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836193"/>
            <a:ext cx="5405437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864643"/>
            <a:ext cx="5405437" cy="1771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416" y="238125"/>
            <a:ext cx="1335583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3036093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97706"/>
                </a:solidFill>
                <a:latin typeface="Noto Sans TC"/>
              </a:rPr>
              <a:t>1. 點選商品與確認購物車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264693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點擊割包或湯品品項，購物車即時顯示數量與金額。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4007643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2. 輸入會員卡號與結帳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236243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輸入卡號 A01，自動試算贈點；點擊結帳一鍵完成智控扣點與訂單寫入。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737" y="2883693"/>
            <a:ext cx="5367337" cy="1733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064668"/>
            <a:ext cx="13349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4036218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09. 門市操作指南：步驟二點餐與結帳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87" y="2883693"/>
            <a:ext cx="5405437" cy="17779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42355"/>
            <a:ext cx="5405437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13905"/>
            <a:ext cx="5405437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942355"/>
            <a:ext cx="5405437" cy="361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416" y="238125"/>
            <a:ext cx="1335583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211380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TC"/>
              </a:rPr>
              <a:t>1. 列印出單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34240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跳出獨立列印視窗，熱感應印表機出單交由廚房包裝。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085355"/>
            <a:ext cx="5315664" cy="22860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Noto Sans TC"/>
              </a:rPr>
              <a:t>2. 後台資料維護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313955"/>
            <a:ext cx="50625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293B"/>
                </a:solidFill>
                <a:latin typeface="Noto Sans TC"/>
              </a:rPr>
              <a:t>管理者點擊後台管理，可執行員工資料新增、修改與刪除 (CRUD)。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737" y="1961405"/>
            <a:ext cx="5367337" cy="357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142380"/>
            <a:ext cx="13349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113930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09. 門市操作指南：步驟三出單與後台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圖片 16"/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37" y="1961405"/>
            <a:ext cx="5367600" cy="3578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97943"/>
            <a:ext cx="1114425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7616" y="238125"/>
            <a:ext cx="1113383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607468"/>
            <a:ext cx="11125200" cy="2286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607468"/>
          <a:ext cx="111251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7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類別 (Category)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品項名稱 (Item)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單價 (Price)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特色說明 (Feature)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割包類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綜合割包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NT$ 65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肥瘦相間半肥半瘦，招牌經典口味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割包類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赤肉割包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NT$ 65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精選瘦肉，扎實不油膩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割包類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焢肉割包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NT$ 65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香醇肥肉，入口即化古早味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湯品類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四神湯 / 貢丸湯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NT$ 55 / 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溫潤中藥頭濃郁湯頭 / 彈牙貢丸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400" y="3064668"/>
            <a:ext cx="248066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4067" y="3064668"/>
            <a:ext cx="240818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2255" y="3064668"/>
            <a:ext cx="198923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11491" y="3064668"/>
            <a:ext cx="424710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531393"/>
            <a:ext cx="248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4067" y="3531393"/>
            <a:ext cx="2408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2255" y="3531393"/>
            <a:ext cx="1989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11491" y="3531393"/>
            <a:ext cx="424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983831"/>
            <a:ext cx="248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4067" y="3983831"/>
            <a:ext cx="2408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2255" y="3983831"/>
            <a:ext cx="1989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11491" y="3983831"/>
            <a:ext cx="424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436268"/>
            <a:ext cx="248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14067" y="4436268"/>
            <a:ext cx="2408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22255" y="4436268"/>
            <a:ext cx="1989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11491" y="4436268"/>
            <a:ext cx="424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10. 門市測試資料與菜單參考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94248"/>
            <a:ext cx="5405437" cy="19124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794248"/>
            <a:ext cx="5405437" cy="19124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7616" y="238125"/>
            <a:ext cx="1113383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090" y="3079998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Noto Sans TC"/>
              </a:rPr>
              <a:t>營運數據分析儀表板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99098"/>
            <a:ext cx="475773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將交易數據圖表化（銷售高峰時段、熱銷品項排行榜、會員回購週期）。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081908"/>
            <a:ext cx="475773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輔助備料決策與精準人力排班。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4903" y="3079998"/>
            <a:ext cx="472434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Noto Sans TC"/>
              </a:rPr>
              <a:t>顧客 LINE 靜態點餐整合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6537" y="3499098"/>
            <a:ext cx="475773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結合 LINE Official Account 與 OMO 點餐。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6537" y="3838128"/>
            <a:ext cx="4757737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顧客可預先線上點餐，到達夜市現場直接取餐，極大化尖峰時段產能。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118098"/>
            <a:ext cx="16311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3118098"/>
            <a:ext cx="16311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428625"/>
            <a:ext cx="11515725" cy="404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Noto Sans TC"/>
              </a:rPr>
              <a:t>10. 未來展望：系統擴充藍圖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428625"/>
            <a:ext cx="57150" cy="40481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1325</Words>
  <Application>Microsoft Office PowerPoint</Application>
  <PresentationFormat>寬螢幕</PresentationFormat>
  <Paragraphs>320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Noto Sans TC</vt:lpstr>
      <vt:lpstr>Poppins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student</dc:creator>
  <cp:keywords/>
  <dc:description>generated using python-pptx</dc:description>
  <cp:lastModifiedBy>student</cp:lastModifiedBy>
  <cp:revision>9</cp:revision>
  <dcterms:created xsi:type="dcterms:W3CDTF">2013-01-27T09:14:16Z</dcterms:created>
  <dcterms:modified xsi:type="dcterms:W3CDTF">2026-09-04T09:25:49Z</dcterms:modified>
  <cp:category/>
</cp:coreProperties>
</file>